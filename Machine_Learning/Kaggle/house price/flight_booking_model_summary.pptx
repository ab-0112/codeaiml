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8A2418-B538-4380-BF9B-8F74A345E76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61AD7-92D5-44E0-AC0E-34D0BB30DE4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362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861AD7-92D5-44E0-AC0E-34D0BB30DE4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872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616A5-7F7C-2246-BC48-D13176CBB4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0DFD9E-3A84-2EE4-FC35-4FD54F3FC0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631156-BD16-9CF2-244D-957C2DAF1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F59B3-A509-17D0-32C9-76C1031D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7DEBA-DC42-0FFB-BF99-4A0069C98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919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02F0B-685B-9252-28F8-C3A23CB7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BD69B-DA0D-D8AC-E4E2-076B9EA695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0C9F4-B612-21D1-1C43-4CDA22DDB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76431-2665-17A7-C8D6-C89B86E3E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CF418-498B-9AFF-96D8-8294544A8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593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F03C0-9D18-E1C5-42F2-859E644B7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1BA69-CD04-37F0-1E11-842AC8775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43F4E-7954-55ED-25E9-AAB87B5DB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F241E-FF32-1552-6524-039BBD713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30F295-5E34-40E6-756B-8D44CC92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218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63329-3903-1321-7E1D-1DE7D8F4A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74887-6F7D-542B-C0E1-43DAA46ED7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69A73C-4031-7E96-DFD6-3708C2E048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689B8-F187-2E22-06B3-0B323C699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EAA6F-37EF-EE36-3681-3980B9FBB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641F1-0131-3E06-EF1A-9A664F037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4516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26AC4-BFCA-B173-AF0B-A59F316B2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F0BE50-03EF-7C6C-459F-28B962C8D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EBEAB-788A-E1ED-C013-BC5440626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AFA060-338D-6A03-1121-4E56F60F33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48A892-C522-03A4-60E6-00FF8D39D1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1E9132-DF41-03F7-FA06-3BA019D1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FF1F57-99C4-2290-24D7-777A7EABC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814505-9FF0-21A4-204F-41CB02F22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676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470C-E634-CAB0-BBF1-4F80C36E0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B4F015-DA06-6527-D2A6-1BBDA2561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657888-6207-747A-EB77-43CF0703B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4DBBD-485D-189C-8A69-364377C5C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175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4ACDCA-B334-95DE-7391-8CD91D7B4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7BD7CF-AF7E-B277-B0CD-80B1C93E0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5A1D8-A173-BE90-04C7-6FDB8A6CE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82093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36E93-3ECA-7ED6-5FAB-C825AA73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3FD82-1419-B29A-BC0F-C0DD20B70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804E4E-97DF-49B6-A7DA-B4D3F13F9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6E819-19C4-CDF1-381F-089DDEE03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03F894-A6B5-1289-F9D8-7C749E95C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1DC44A-36FC-C3AB-E3BA-8679D77B0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9599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3D8AB-1865-17DB-C623-FC19A9604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6D8AFF-F55B-E473-470F-06D5134A9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23DCB5-755A-E7C7-54BE-B85BA4888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002B85-A602-DEB3-0F1A-87E93019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B1E37-3400-41F6-30C7-508FC011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118FA-6999-C368-ED14-020A17F01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5688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3966D-4B19-5F07-6ACB-88D1899E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EAAD14-4A64-8DDD-4C4A-4602C8821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3B278-70B4-6661-F7A3-82010142A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3B186-7B76-046F-50F1-1CBA8AA2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B8D73-22CB-A281-9520-55B52BAD6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2788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B1985F-D896-8CF3-799C-71B49D3381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4F9332-186A-EA79-2654-364996634F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09C0B-361A-45DD-06E7-3F66BEFD6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1589E8-E917-05EC-A966-79CB998BF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69C24-F711-5D56-9ED5-E482897A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1539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2916E0-E65F-3E7B-F28F-5D3CD64A8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699F51-8D2A-6947-6704-46E5D4B5A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B359F-A420-B186-656C-8F20564427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3BF165-7CD5-42D4-AB47-10773C51F535}" type="datetimeFigureOut">
              <a:rPr lang="en-IN" smtClean="0"/>
              <a:t>10-06-2025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D1D7C-36BA-9DC4-AFF6-AD280F524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16C97-5714-0FA2-7620-E7F0F1453F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B2FD9D-C24F-4C8B-82E2-5A81A659FB5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900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CAD36-4391-DD10-D50D-33F68E874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Flight Booking Prediction Model Summary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8824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1800"/>
            </a:pPr>
            <a:r>
              <a:rPr sz="2400" dirty="0"/>
              <a:t>• Model: Random Forest Classifier (</a:t>
            </a:r>
            <a:r>
              <a:rPr sz="2400" dirty="0" err="1"/>
              <a:t>GridSearchCV</a:t>
            </a:r>
            <a:r>
              <a:rPr sz="2400" dirty="0"/>
              <a:t> tuned)</a:t>
            </a:r>
          </a:p>
          <a:p>
            <a:pPr marL="0" indent="0">
              <a:buNone/>
              <a:defRPr sz="1800"/>
            </a:pPr>
            <a:r>
              <a:rPr sz="2400" dirty="0"/>
              <a:t>• Cross-validated F1 Score: 0.560</a:t>
            </a:r>
          </a:p>
          <a:p>
            <a:pPr marL="0" indent="0">
              <a:buNone/>
              <a:defRPr sz="1800"/>
            </a:pPr>
            <a:r>
              <a:rPr sz="2400" dirty="0"/>
              <a:t>• Top Features: </a:t>
            </a:r>
            <a:r>
              <a:rPr sz="2400" dirty="0" err="1"/>
              <a:t>length_of_stay</a:t>
            </a:r>
            <a:r>
              <a:rPr sz="2400" dirty="0"/>
              <a:t>, route, </a:t>
            </a:r>
            <a:r>
              <a:rPr sz="2400" dirty="0" err="1"/>
              <a:t>purchase_lead</a:t>
            </a:r>
            <a:r>
              <a:rPr sz="2400" dirty="0"/>
              <a:t>, </a:t>
            </a:r>
            <a:r>
              <a:rPr sz="2400" dirty="0" err="1"/>
              <a:t>booking_origin</a:t>
            </a:r>
            <a:endParaRPr sz="2400" dirty="0"/>
          </a:p>
          <a:p>
            <a:pPr marL="0" indent="0">
              <a:buNone/>
              <a:defRPr sz="1800"/>
            </a:pPr>
            <a:r>
              <a:rPr sz="2400" dirty="0"/>
              <a:t>• Insights:</a:t>
            </a:r>
          </a:p>
          <a:p>
            <a:pPr marL="0" indent="0">
              <a:buNone/>
              <a:defRPr sz="1800"/>
            </a:pPr>
            <a:r>
              <a:rPr sz="2400" dirty="0"/>
              <a:t>   - Length of stay and route are the most influential predictors.</a:t>
            </a:r>
          </a:p>
          <a:p>
            <a:pPr marL="0" indent="0">
              <a:buNone/>
              <a:defRPr sz="1800"/>
            </a:pPr>
            <a:r>
              <a:rPr sz="2400" dirty="0"/>
              <a:t>   - Model shows good </a:t>
            </a:r>
            <a:r>
              <a:rPr sz="2400" dirty="0" err="1"/>
              <a:t>generalisation</a:t>
            </a:r>
            <a:r>
              <a:rPr sz="2400" dirty="0"/>
              <a:t> (see F1 score).</a:t>
            </a:r>
          </a:p>
          <a:p>
            <a:pPr marL="0" indent="0">
              <a:buNone/>
              <a:defRPr sz="1800"/>
            </a:pPr>
            <a:r>
              <a:rPr sz="2400" dirty="0"/>
              <a:t>   - Balanced dataset improves prediction for all trip types.</a:t>
            </a:r>
          </a:p>
          <a:p>
            <a:pPr marL="0" indent="0">
              <a:buNone/>
              <a:defRPr sz="1800"/>
            </a:pPr>
            <a:r>
              <a:rPr sz="2400" dirty="0"/>
              <a:t>• See right for feature importance </a:t>
            </a:r>
            <a:r>
              <a:rPr sz="2400" dirty="0" err="1"/>
              <a:t>visualisation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feature_importance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4600" y="945090"/>
            <a:ext cx="9524999" cy="5147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401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688B901-A180-6789-C5E7-A1E82B1D6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355718"/>
            <a:ext cx="9626600" cy="6066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35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E6E50E-3D9A-880D-6508-DC12F549F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7673" y="439459"/>
            <a:ext cx="9636654" cy="6136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43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BA396B-F67C-8A5C-0582-D46DDA5B0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4668" y="519800"/>
            <a:ext cx="9137120" cy="5818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090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A346-1713-04D6-65BC-1F6AB29EB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65126"/>
            <a:ext cx="10896600" cy="608542"/>
          </a:xfrm>
        </p:spPr>
        <p:txBody>
          <a:bodyPr>
            <a:normAutofit fontScale="90000"/>
          </a:bodyPr>
          <a:lstStyle/>
          <a:p>
            <a:r>
              <a:rPr lang="en-IN" dirty="0"/>
              <a:t>Overall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B103D-F35B-6381-CE7D-38F41F4D8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075267"/>
            <a:ext cx="11675533" cy="56388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sz="2000" dirty="0"/>
              <a:t>Best Parameters Found: {'</a:t>
            </a:r>
            <a:r>
              <a:rPr lang="en-IN" sz="2000" dirty="0" err="1"/>
              <a:t>class_weight</a:t>
            </a:r>
            <a:r>
              <a:rPr lang="en-IN" sz="2000" dirty="0"/>
              <a:t>': 'balanced', '</a:t>
            </a:r>
            <a:r>
              <a:rPr lang="en-IN" sz="2000" dirty="0" err="1"/>
              <a:t>max_depth</a:t>
            </a:r>
            <a:r>
              <a:rPr lang="en-IN" sz="2000" dirty="0"/>
              <a:t>': 10, '</a:t>
            </a:r>
            <a:r>
              <a:rPr lang="en-IN" sz="2000" dirty="0" err="1"/>
              <a:t>min_samples_leaf</a:t>
            </a:r>
            <a:r>
              <a:rPr lang="en-IN" sz="2000" dirty="0"/>
              <a:t>': 2, '</a:t>
            </a:r>
            <a:r>
              <a:rPr lang="en-IN" sz="2000" dirty="0" err="1"/>
              <a:t>min_samples_split</a:t>
            </a:r>
            <a:r>
              <a:rPr lang="en-IN" sz="2000" dirty="0"/>
              <a:t>': 5, '</a:t>
            </a:r>
            <a:r>
              <a:rPr lang="en-IN" sz="2000" dirty="0" err="1"/>
              <a:t>n_estimators</a:t>
            </a:r>
            <a:r>
              <a:rPr lang="en-IN" sz="2000" dirty="0"/>
              <a:t>': 200}</a:t>
            </a:r>
          </a:p>
          <a:p>
            <a:pPr marL="0" indent="0">
              <a:buNone/>
            </a:pPr>
            <a:r>
              <a:rPr lang="en-IN" sz="2000" dirty="0"/>
              <a:t>Classification Report:              </a:t>
            </a:r>
          </a:p>
          <a:p>
            <a:pPr marL="0" indent="0">
              <a:buNone/>
            </a:pPr>
            <a:r>
              <a:rPr lang="en-IN" sz="2000" dirty="0"/>
              <a:t>precision    recall  f1-score   support           </a:t>
            </a:r>
          </a:p>
          <a:p>
            <a:pPr marL="0" indent="0">
              <a:buNone/>
            </a:pPr>
            <a:r>
              <a:rPr lang="en-IN" sz="2000" dirty="0"/>
              <a:t>0       0.08      0.04      0.06        23           </a:t>
            </a:r>
          </a:p>
          <a:p>
            <a:pPr marL="0" indent="0">
              <a:buNone/>
            </a:pPr>
            <a:r>
              <a:rPr lang="en-IN" sz="2000" dirty="0"/>
              <a:t>1       0.66      0.59      0.62        78          </a:t>
            </a:r>
          </a:p>
          <a:p>
            <a:pPr marL="0" indent="0">
              <a:buNone/>
            </a:pPr>
            <a:r>
              <a:rPr lang="en-IN" sz="2000" dirty="0"/>
              <a:t> 2       0.81      0.88      0.84       201    </a:t>
            </a:r>
          </a:p>
          <a:p>
            <a:pPr marL="0" indent="0">
              <a:buNone/>
            </a:pPr>
            <a:r>
              <a:rPr lang="en-IN" sz="2000" dirty="0"/>
              <a:t>accuracy                           0.74       302   </a:t>
            </a:r>
          </a:p>
          <a:p>
            <a:pPr marL="0" indent="0">
              <a:buNone/>
            </a:pPr>
            <a:r>
              <a:rPr lang="en-IN" sz="2000" dirty="0"/>
              <a:t>macro </a:t>
            </a:r>
            <a:r>
              <a:rPr lang="en-IN" sz="2000" dirty="0" err="1"/>
              <a:t>avg</a:t>
            </a:r>
            <a:r>
              <a:rPr lang="en-IN" sz="2000" dirty="0"/>
              <a:t>       0.51      0.50      0.51       302</a:t>
            </a:r>
          </a:p>
          <a:p>
            <a:pPr marL="0" indent="0">
              <a:buNone/>
            </a:pPr>
            <a:r>
              <a:rPr lang="en-IN" sz="2000" dirty="0"/>
              <a:t>weighted </a:t>
            </a:r>
            <a:r>
              <a:rPr lang="en-IN" sz="2000" dirty="0" err="1"/>
              <a:t>avg</a:t>
            </a:r>
            <a:r>
              <a:rPr lang="en-IN" sz="2000" dirty="0"/>
              <a:t>       0.71      0.74      0.73       302</a:t>
            </a:r>
          </a:p>
          <a:p>
            <a:pPr marL="0" indent="0">
              <a:buNone/>
            </a:pPr>
            <a:r>
              <a:rPr lang="en-IN" sz="2000" dirty="0"/>
              <a:t>Confusion Matrix:</a:t>
            </a:r>
          </a:p>
          <a:p>
            <a:pPr marL="0" indent="0">
              <a:buNone/>
            </a:pPr>
            <a:r>
              <a:rPr lang="en-IN" sz="2000" dirty="0"/>
              <a:t>                                [[  1   7  15] </a:t>
            </a:r>
          </a:p>
          <a:p>
            <a:pPr marL="0" indent="0">
              <a:buNone/>
            </a:pPr>
            <a:r>
              <a:rPr lang="en-IN" sz="2000" dirty="0"/>
              <a:t>                                [  5  46  27]</a:t>
            </a:r>
          </a:p>
          <a:p>
            <a:pPr marL="0" indent="0">
              <a:buNone/>
            </a:pPr>
            <a:r>
              <a:rPr lang="en-IN" sz="2000" dirty="0"/>
              <a:t>                                [  7  17 177]]</a:t>
            </a:r>
          </a:p>
          <a:p>
            <a:pPr marL="0" indent="0">
              <a:buNone/>
            </a:pPr>
            <a:r>
              <a:rPr lang="en-IN" sz="2000" dirty="0"/>
              <a:t>Predicted Trip Type: 2</a:t>
            </a:r>
          </a:p>
        </p:txBody>
      </p:sp>
    </p:spTree>
    <p:extLst>
      <p:ext uri="{BB962C8B-B14F-4D97-AF65-F5344CB8AC3E}">
        <p14:creationId xmlns:p14="http://schemas.microsoft.com/office/powerpoint/2010/main" val="6879257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563276E-B5E6-D355-1D39-E0C442196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66" y="2227792"/>
            <a:ext cx="10515600" cy="1325563"/>
          </a:xfrm>
        </p:spPr>
        <p:txBody>
          <a:bodyPr/>
          <a:lstStyle/>
          <a:p>
            <a:pPr algn="ctr"/>
            <a:r>
              <a:rPr lang="en-IN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7809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195</Words>
  <Application>Microsoft Office PowerPoint</Application>
  <PresentationFormat>Widescreen</PresentationFormat>
  <Paragraphs>27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Flight Booking Prediction Model Summary</vt:lpstr>
      <vt:lpstr>Summary</vt:lpstr>
      <vt:lpstr>PowerPoint Presentation</vt:lpstr>
      <vt:lpstr>PowerPoint Presentation</vt:lpstr>
      <vt:lpstr>PowerPoint Presentation</vt:lpstr>
      <vt:lpstr>PowerPoint Presentation</vt:lpstr>
      <vt:lpstr>Overall Result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Abhishek Murali Malolanrusimhan</dc:creator>
  <cp:lastModifiedBy>Abhishek Murali Malolanrusimhan</cp:lastModifiedBy>
  <cp:revision>2</cp:revision>
  <dcterms:created xsi:type="dcterms:W3CDTF">2025-06-10T09:41:13Z</dcterms:created>
  <dcterms:modified xsi:type="dcterms:W3CDTF">2025-06-10T09:47:42Z</dcterms:modified>
</cp:coreProperties>
</file>